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1031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9319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8463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607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751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182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1031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0175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9319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7607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5895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503920" y="10972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887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175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9319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7607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03920" y="20116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887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1031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175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9319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7607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6751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895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29260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743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887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21031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30175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39319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8463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607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751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5895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503920" y="38404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2743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887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1031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30175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9319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48463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7607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6751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5895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503920" y="4754880"/>
            <a:ext cx="36576" cy="36576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0" y="1463040"/>
            <a:ext cx="73152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3" name="Text 61"/>
          <p:cNvSpPr/>
          <p:nvPr/>
        </p:nvSpPr>
        <p:spPr>
          <a:xfrm>
            <a:off x="548640" y="13716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Time Series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Backcasting Engine</a:t>
            </a:r>
            <a:endParaRPr lang="en-US" sz="4000" dirty="0"/>
          </a:p>
        </p:txBody>
      </p:sp>
      <p:sp>
        <p:nvSpPr>
          <p:cNvPr id="64" name="Text 62"/>
          <p:cNvSpPr/>
          <p:nvPr/>
        </p:nvSpPr>
        <p:spPr>
          <a:xfrm>
            <a:off x="54864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Short-History Assets Using Statistical Imputation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Research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history lengths prevent full-sample analysis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46304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38328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4340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183880" y="12344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5544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42316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22376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1554480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1554480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19019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46304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42316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8328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34340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0352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6364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83880" y="1901952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183880" y="1901952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224942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46304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46304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42316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242316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8328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34340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434340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30352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26364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626364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22376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22376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183880" y="2249424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183880" y="2249424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57200" y="259689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463040" y="2596896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46304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423160" y="2596896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242316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383280" y="2596896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338328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43400" y="2596896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434340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303520" y="2596896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530352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263640" y="2596896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626364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223760" y="2596896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722376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183880" y="2596896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8183880" y="2596896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" y="29443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 1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146304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2" name="Text 80"/>
          <p:cNvSpPr/>
          <p:nvPr/>
        </p:nvSpPr>
        <p:spPr>
          <a:xfrm>
            <a:off x="146304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242316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242316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338328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6" name="Text 84"/>
          <p:cNvSpPr/>
          <p:nvPr/>
        </p:nvSpPr>
        <p:spPr>
          <a:xfrm>
            <a:off x="338328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434340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34340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0352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530352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6263640" y="2944368"/>
            <a:ext cx="923544" cy="310896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92" name="Text 90"/>
          <p:cNvSpPr/>
          <p:nvPr/>
        </p:nvSpPr>
        <p:spPr>
          <a:xfrm>
            <a:off x="626364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7223760" y="2944368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94" name="Text 92"/>
          <p:cNvSpPr/>
          <p:nvPr/>
        </p:nvSpPr>
        <p:spPr>
          <a:xfrm>
            <a:off x="722376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183880" y="2944368"/>
            <a:ext cx="923544" cy="310896"/>
          </a:xfrm>
          <a:prstGeom prst="rect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96" name="Text 94"/>
          <p:cNvSpPr/>
          <p:nvPr/>
        </p:nvSpPr>
        <p:spPr>
          <a:xfrm>
            <a:off x="8183880" y="2944368"/>
            <a:ext cx="9235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48640" y="3566160"/>
            <a:ext cx="8046720" cy="118872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794760"/>
            <a:ext cx="320040" cy="320040"/>
          </a:xfrm>
          <a:prstGeom prst="rect">
            <a:avLst/>
          </a:prstGeom>
        </p:spPr>
      </p:pic>
      <p:sp>
        <p:nvSpPr>
          <p:cNvPr id="99" name="Text 96"/>
          <p:cNvSpPr/>
          <p:nvPr/>
        </p:nvSpPr>
        <p:spPr>
          <a:xfrm>
            <a:off x="1280160" y="3657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returns matrix has a block of missing data (monotone missingness).</a:t>
            </a:r>
            <a:endParaRPr lang="en-US" sz="1400" dirty="0"/>
          </a:p>
        </p:txBody>
      </p:sp>
      <p:sp>
        <p:nvSpPr>
          <p:cNvPr id="100" name="Text 97"/>
          <p:cNvSpPr/>
          <p:nvPr/>
        </p:nvSpPr>
        <p:spPr>
          <a:xfrm>
            <a:off x="1280160" y="40690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imputation: truncated histories, biased covariance estimates, inability to run full-sample backtests. New assets like crypto, alternatives, and recent ETFs are excluded from long-horizon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three-model ensemble with multiple imputation and regime awareness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7373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detection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validation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2316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65176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51760" y="1463040"/>
            <a:ext cx="196596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373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88920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(Stambaugh)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TVP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HMM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177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84632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46304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7373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93776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983480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impute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impute (N=50)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Copula simulation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81228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7040880" y="1463040"/>
            <a:ext cx="19659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0" y="146304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173736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2331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178040" y="278892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 estimation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ellipses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1: EM Algorithm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Stambaugh (1997) — Maximum likelihood with incomplete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E-Step: Conditional Expectations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assets into observed (R₁) and missing (R₂).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E[R₂|R₁] = μ₂ + Σ₂₁ Σ₁₁⁻¹(R₁ − μ₁)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variance: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Var[R₂|R₁] = Σ₂₂ − Σ₂₁ Σ₁₁⁻¹ Σ₁₂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sufficient statistics including the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variance correction term.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39319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M-Step: Parameter Re-estimation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Re-estimate μ and Σ using completed data: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correction: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Σ̂ = Cov(filled) + E[Var(R₂|R₁)]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variance correction term, Σ₂₂ 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underestimated → overconfident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allocations to backcasted assets.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Converge: ‖Σᵏ⁺¹ − Σᵏ‖F &lt; 10⁻⁸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2: Kalman Filter TVP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parameter estimation via state-space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0292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State-Space Formulation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equation: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r₂,ₜ = αₜ + Bₜ · r₁,ₜ + εₜ     εₜ ~ N(0, H)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equation: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βₜ = βₜ₋₁ + ηₜ               ηₜ ~ N(0, Q)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dynamics for betas — simple but effective.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smoother uses future information to refine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estimates of E[βₜ | all data].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0" y="1371600"/>
            <a:ext cx="2926080" cy="14630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0876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8932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 against the EM. If betas drift significantly, the EM stationarity assumption is suspect.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063240"/>
            <a:ext cx="2926080" cy="1508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2004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Backcast Strategy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989320" y="3657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earliest smoothed betas as fixed loadings. Never extrapolate a trend backward — unstable.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3: Regime-Switching HMM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(1989) — Conditional imputation by market regime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Timeline (illustrative)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28600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34640" y="1600200"/>
            <a:ext cx="73152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1600200"/>
            <a:ext cx="164592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12080" y="1600200"/>
            <a:ext cx="54864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760720" y="1600200"/>
            <a:ext cx="109728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1600200"/>
            <a:ext cx="457200" cy="274320"/>
          </a:xfrm>
          <a:prstGeom prst="rect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1600200"/>
            <a:ext cx="1371600" cy="27432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928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0" y="189280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463040"/>
            <a:ext cx="0" cy="54864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657600" y="1280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Backcast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2801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68880"/>
            <a:ext cx="393192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688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 Regime (k=1)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| sₜ=1  ~  N(μ⁽¹⁾, Σ⁽¹⁾)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volatilities across all assets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cross-asset correlations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expected returns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Backcasted crypto vol naturally lower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calm 1990s regimes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393192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46888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Regime (k=2)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01752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| sₜ=2  ~  N(μ⁽²⁾, Σ⁽²⁾)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volatilities (2–3× calm)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Spiking correlations (contagion effect)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mean returns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Captures drawdown co-movement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backcasted assets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Imputation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Rubin (1987) — Quantify imputation uncertainty with M=50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572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 Process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imputation m = 1, ..., M: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Compute conditional mean: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μ̂₂|₁,ₜ = α + B · r₁,ₜ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Draw from conditional distribution: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r₂,ₜ⁽ᵐ⁾ ~ N(μ̂₂|₁,ₜ , Σ₂|₁)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Optionally incorporate parameter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uncertainty (Bayesian bootstrap)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Produces M complete DataFrames,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each a plausible history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0" y="1371600"/>
            <a:ext cx="33832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03520" y="1371600"/>
            <a:ext cx="33832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Rubin's Combining Rules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0" y="19202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estimate: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θ̂ = (1/M) Σ θ̂⁽ᵐ⁾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Within-imputation var: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W̄ = (1/M) Σ Var(θ̂⁽ᵐ⁾)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Between-imputation var: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Var(θ̂⁽ᵐ⁾) across 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variance: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W̄ + (1 + 1/M) · 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estimation error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uncertainty.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Downstream Applications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imputed histories to portfolio decisions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023360" cy="1508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Covariance Estimation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direct output  •  Rubin combined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Ledoit-Wolf shrinkage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Matrix Theory denoising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4023360" cy="1508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371600"/>
            <a:ext cx="54864" cy="150876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5087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813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Uncertainty Ellipses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Ellipsoidal sets: (μ−μ̂)ᵀS⁻¹(μ−μ̂) ≤ κ²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uncertainty on μ and 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cvxpy robust optimization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108960"/>
            <a:ext cx="4023360" cy="1508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9728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Copula Simulation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8580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Marginals: Normal / Student-t / empirical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+ Student-t copula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scenario simulations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3108960"/>
            <a:ext cx="4023360" cy="1508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3108960"/>
            <a:ext cx="54864" cy="15087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461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2186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Backtesting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83480" y="36576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callback interface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each of M imputed paths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± percentile performance bands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holdout on the overlap period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Holdout Procedure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overlap period where all assets have data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first H days of short assets (H ≈ 504 ≈ 2 years)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model (EM, Kalman, HMM) to backcast those H days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backcasted returns to actual observed returns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Walk-forward: repeat with 3 sliding windows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stability of results.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71600"/>
            <a:ext cx="384048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74920" y="205740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1993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55080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vol, skew, kurtosis match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4920" y="246888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404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Frobenius norm of Δ(corr matrix)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288036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2816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8163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tail events, tail dependence 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74920" y="329184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3227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227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Autocorrelation structure (Ljung-Box)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370332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36393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covers ~95% of actuals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4114800"/>
            <a:ext cx="164592" cy="164592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349240" y="40507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4050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 test, PIT histogram uniformity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YAML-configured pipeline with one-command execution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5544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with dates as rows,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as columns.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simple returns.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Short-history assets have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NaN values.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default_config.yaml: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n_imputations: 50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method: regime_conditional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holdout_days: 504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covariance: ledoit_wolf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copula: student_t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56032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514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run_backcast.py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--config config.yaml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--data returns.csv \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--output ./results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Outputs: imputed CSVs,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covariance, plots, reports.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731520"/>
            <a:ext cx="73152" cy="2743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Caveats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not data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05840" y="16276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Backcasted histories are conditional estimates — they describe how an asset with BTC's statistical properties would have behaved given 1990s factor returns. They are not ground truth.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88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Stationarity assumption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05840" y="27706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 assumes stable relationships. The Kalman and HMM relax this, but all models assume the overlap period is informative about the past — which may not hold for structurally novel assets.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118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multiple imputation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005840" y="39136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rely on a single backcast path. The M=50 paths and Rubin's rules exist to propagate uncertainty honestly into downstream portfolio decisions.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intellectual honesty in portfolio construction.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Time Series Backcasting Engine</dc:title>
  <dc:subject>PptxGenJS Presentation</dc:subject>
  <dc:creator>Quant Research</dc:creator>
  <cp:lastModifiedBy>Quant Research</cp:lastModifiedBy>
  <cp:revision>1</cp:revision>
  <dcterms:created xsi:type="dcterms:W3CDTF">2026-04-24T23:21:06Z</dcterms:created>
  <dcterms:modified xsi:type="dcterms:W3CDTF">2026-04-24T23:21:06Z</dcterms:modified>
</cp:coreProperties>
</file>